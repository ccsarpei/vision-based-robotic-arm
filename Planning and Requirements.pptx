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3" r:id="rId7"/>
    <p:sldId id="264" r:id="rId8"/>
    <p:sldId id="265" r:id="rId9"/>
    <p:sldId id="266" r:id="rId10"/>
    <p:sldId id="267" r:id="rId11"/>
    <p:sldId id="268" r:id="rId12"/>
    <p:sldId id="271" r:id="rId13"/>
    <p:sldId id="269" r:id="rId14"/>
    <p:sldId id="272"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B05B-3AEE-314A-6F13-356009315C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C1F224-78AB-3A0B-B6D2-89D3CC57C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653A49-667E-3DA9-B5D0-9A8490CDF1DF}"/>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54DF414D-ADE3-7F7E-815D-282737C23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2DCAC9-9DDF-98EF-0975-10362DF7A6CF}"/>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3440334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F569-B01A-B552-79A8-5EF5B97221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3F1798-5808-E28B-9241-BFD6776347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3A905C-946C-9B21-AC65-A5219A349A0E}"/>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607718F3-FF00-D3D7-3FDD-3F9B64011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E3741-9C79-3BBC-071C-8A6D278DF2DD}"/>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2172601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DFD3F-009A-8B57-9DA4-91269F4764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F15D49-0600-4A56-DFEE-B2E80F4959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8F6717-D51F-3EAE-59CF-0608044142DD}"/>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854FD2C5-8F0E-0B8B-FECD-93BFE7EBF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550AD-E01C-3B4B-378F-715A101A3A27}"/>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1306460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DBB45-99A6-8154-9162-958D8E00A5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3182A8-F025-4C55-06C0-1741E7ED85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6D71BF-32DD-04D5-2D29-A241C6C767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46B813-A892-1668-45A1-3345C7F036B9}"/>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6" name="Footer Placeholder 5">
            <a:extLst>
              <a:ext uri="{FF2B5EF4-FFF2-40B4-BE49-F238E27FC236}">
                <a16:creationId xmlns:a16="http://schemas.microsoft.com/office/drawing/2014/main" id="{AF358CC0-E867-A506-7C42-49006E899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BAA5E-A003-493D-CDA1-D8168F174450}"/>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152502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8E2ED-E1E0-DD19-1AFC-8BFBFB7E24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BD0E03-34EE-9DD0-018D-357885A2A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353EAD-A4BF-6810-97EE-6B1C83F19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C7DF55-0BDB-0367-3BDC-EAEA9F9943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5CA640-E3DC-418B-4BB8-B7DC60F71E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F96149-8F93-FDA5-22A7-AE0AE34A4378}"/>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8" name="Footer Placeholder 7">
            <a:extLst>
              <a:ext uri="{FF2B5EF4-FFF2-40B4-BE49-F238E27FC236}">
                <a16:creationId xmlns:a16="http://schemas.microsoft.com/office/drawing/2014/main" id="{8E235961-37D5-F05A-52B1-63D49E7CAF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BE3646-8792-A155-A9DC-423685D0F93B}"/>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108532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E9E4-1FF7-C501-0033-990BE34312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C26025-74F5-7266-CC02-745EC30C9574}"/>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4" name="Footer Placeholder 3">
            <a:extLst>
              <a:ext uri="{FF2B5EF4-FFF2-40B4-BE49-F238E27FC236}">
                <a16:creationId xmlns:a16="http://schemas.microsoft.com/office/drawing/2014/main" id="{91BBDD1D-6281-29DD-DA39-5D02A4B54E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66C014-E31F-A792-92B2-8C8D049D55B4}"/>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2004076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D81F76-0A73-3143-75B6-644E8408628A}"/>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3" name="Footer Placeholder 2">
            <a:extLst>
              <a:ext uri="{FF2B5EF4-FFF2-40B4-BE49-F238E27FC236}">
                <a16:creationId xmlns:a16="http://schemas.microsoft.com/office/drawing/2014/main" id="{C561EFB3-E3DA-27E6-70ED-60F23BEA2E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E265F1-063C-EE1A-A364-90864AE0CA84}"/>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3379266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A76A-CC33-AB6D-A07D-828E54E9FB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45F94-8109-2EF7-4C33-0A5208A181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94781F-810E-4F45-07EC-EC7C54E3B9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192E2E-7035-4A1E-4C32-052E65D65556}"/>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6" name="Footer Placeholder 5">
            <a:extLst>
              <a:ext uri="{FF2B5EF4-FFF2-40B4-BE49-F238E27FC236}">
                <a16:creationId xmlns:a16="http://schemas.microsoft.com/office/drawing/2014/main" id="{CDC8241D-4FF4-F8FF-97DE-15CD5A48D7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5D34F0-8496-BE30-E422-3E0B3C93D37A}"/>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23511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19DB-6CAA-FA15-3F4E-E56ADEC7A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F2D726-8E59-F2B5-BBAC-7E8C5BC53E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7DE9F1-6751-F7A1-DB76-574338CD3B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0CBB7-BDA0-5D1B-999D-6C3677175B3F}"/>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6" name="Footer Placeholder 5">
            <a:extLst>
              <a:ext uri="{FF2B5EF4-FFF2-40B4-BE49-F238E27FC236}">
                <a16:creationId xmlns:a16="http://schemas.microsoft.com/office/drawing/2014/main" id="{F67D0DF5-70C6-4452-A309-3AE7B01DD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FFA3D9-C832-9218-6B8E-35E9A759D579}"/>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285264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92A62-5AE5-5F40-F751-481898ED09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CA026A-B85F-16F6-77C7-74219811C9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51C8B-DC5B-1664-ACB7-19A296F7E9AA}"/>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C6CFC385-1CDB-4313-6DC6-E8DBB85C9D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F9DFCC-1A88-BD0A-A131-1401A434551A}"/>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176788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64F3E8-D692-8453-F361-688016B675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CEA670-D988-FFDF-F98E-C1A5C24D1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23CF9-F30D-D91F-DE3B-E2822A061A98}"/>
              </a:ext>
            </a:extLst>
          </p:cNvPr>
          <p:cNvSpPr>
            <a:spLocks noGrp="1"/>
          </p:cNvSpPr>
          <p:nvPr>
            <p:ph type="dt" sz="half" idx="10"/>
          </p:nvPr>
        </p:nvSpPr>
        <p:spPr/>
        <p:txBody>
          <a:body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B9E9E802-7042-9000-0530-28EE5A78A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A0276-B20A-C088-943A-6F27764BEA1D}"/>
              </a:ext>
            </a:extLst>
          </p:cNvPr>
          <p:cNvSpPr>
            <a:spLocks noGrp="1"/>
          </p:cNvSpPr>
          <p:nvPr>
            <p:ph type="sldNum" sz="quarter" idx="12"/>
          </p:nvPr>
        </p:nvSpPr>
        <p:spPr/>
        <p:txBody>
          <a:bodyPr/>
          <a:lstStyle/>
          <a:p>
            <a:fld id="{A4D03EF8-5DB3-4F3C-AC53-F30E31FEF396}" type="slidenum">
              <a:rPr lang="en-US" smtClean="0"/>
              <a:t>‹#›</a:t>
            </a:fld>
            <a:endParaRPr lang="en-US"/>
          </a:p>
        </p:txBody>
      </p:sp>
    </p:spTree>
    <p:extLst>
      <p:ext uri="{BB962C8B-B14F-4D97-AF65-F5344CB8AC3E}">
        <p14:creationId xmlns:p14="http://schemas.microsoft.com/office/powerpoint/2010/main" val="3497292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BB76E2-C99F-BA77-DD6D-00975490A5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B7CB51-7852-66B7-005D-4876F46B9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CB314-0CAA-6608-3FEF-D19BF531FA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B266D-0651-4ADB-BEA1-E57F805CBE5C}" type="datetimeFigureOut">
              <a:rPr lang="en-US" smtClean="0"/>
              <a:t>2/17/2026</a:t>
            </a:fld>
            <a:endParaRPr lang="en-US"/>
          </a:p>
        </p:txBody>
      </p:sp>
      <p:sp>
        <p:nvSpPr>
          <p:cNvPr id="5" name="Footer Placeholder 4">
            <a:extLst>
              <a:ext uri="{FF2B5EF4-FFF2-40B4-BE49-F238E27FC236}">
                <a16:creationId xmlns:a16="http://schemas.microsoft.com/office/drawing/2014/main" id="{908DE169-DFD2-B0B3-8A7F-B5D557AFD0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9EC7E3-9EAC-DFE4-95D6-BDD918D761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D03EF8-5DB3-4F3C-AC53-F30E31FEF396}" type="slidenum">
              <a:rPr lang="en-US" smtClean="0"/>
              <a:t>‹#›</a:t>
            </a:fld>
            <a:endParaRPr lang="en-US"/>
          </a:p>
        </p:txBody>
      </p:sp>
    </p:spTree>
    <p:extLst>
      <p:ext uri="{BB962C8B-B14F-4D97-AF65-F5344CB8AC3E}">
        <p14:creationId xmlns:p14="http://schemas.microsoft.com/office/powerpoint/2010/main" val="2043178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FE97-1507-75C3-25AA-258F7FE398DA}"/>
              </a:ext>
            </a:extLst>
          </p:cNvPr>
          <p:cNvSpPr>
            <a:spLocks noGrp="1"/>
          </p:cNvSpPr>
          <p:nvPr>
            <p:ph type="ctrTitle"/>
          </p:nvPr>
        </p:nvSpPr>
        <p:spPr/>
        <p:txBody>
          <a:bodyPr/>
          <a:lstStyle/>
          <a:p>
            <a:r>
              <a:rPr lang="en-US" dirty="0"/>
              <a:t>Planning and Requirements</a:t>
            </a:r>
          </a:p>
        </p:txBody>
      </p:sp>
      <p:sp>
        <p:nvSpPr>
          <p:cNvPr id="3" name="Subtitle 2">
            <a:extLst>
              <a:ext uri="{FF2B5EF4-FFF2-40B4-BE49-F238E27FC236}">
                <a16:creationId xmlns:a16="http://schemas.microsoft.com/office/drawing/2014/main" id="{BEF95F30-AADD-54B7-A436-ED4CCF11F1BF}"/>
              </a:ext>
            </a:extLst>
          </p:cNvPr>
          <p:cNvSpPr>
            <a:spLocks noGrp="1"/>
          </p:cNvSpPr>
          <p:nvPr>
            <p:ph type="subTitle" idx="1"/>
          </p:nvPr>
        </p:nvSpPr>
        <p:spPr/>
        <p:txBody>
          <a:bodyPr/>
          <a:lstStyle/>
          <a:p>
            <a:r>
              <a:rPr lang="en-US" dirty="0"/>
              <a:t>Project Title: Vision-Based Sorting Arm</a:t>
            </a:r>
          </a:p>
        </p:txBody>
      </p:sp>
    </p:spTree>
    <p:extLst>
      <p:ext uri="{BB962C8B-B14F-4D97-AF65-F5344CB8AC3E}">
        <p14:creationId xmlns:p14="http://schemas.microsoft.com/office/powerpoint/2010/main" val="924664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B4B9-9DBA-EAC7-A797-17BE5AD309A6}"/>
              </a:ext>
            </a:extLst>
          </p:cNvPr>
          <p:cNvSpPr>
            <a:spLocks noGrp="1"/>
          </p:cNvSpPr>
          <p:nvPr>
            <p:ph type="title"/>
          </p:nvPr>
        </p:nvSpPr>
        <p:spPr/>
        <p:txBody>
          <a:bodyPr>
            <a:normAutofit/>
          </a:bodyPr>
          <a:lstStyle/>
          <a:p>
            <a:r>
              <a:rPr lang="en-US" sz="5400" b="1" dirty="0"/>
              <a:t>Presentation Outline</a:t>
            </a:r>
          </a:p>
        </p:txBody>
      </p:sp>
      <p:sp>
        <p:nvSpPr>
          <p:cNvPr id="3" name="Content Placeholder 2">
            <a:extLst>
              <a:ext uri="{FF2B5EF4-FFF2-40B4-BE49-F238E27FC236}">
                <a16:creationId xmlns:a16="http://schemas.microsoft.com/office/drawing/2014/main" id="{00FD6542-D88B-81E1-C20F-ED42FBBAA70D}"/>
              </a:ext>
            </a:extLst>
          </p:cNvPr>
          <p:cNvSpPr>
            <a:spLocks noGrp="1"/>
          </p:cNvSpPr>
          <p:nvPr>
            <p:ph idx="1"/>
          </p:nvPr>
        </p:nvSpPr>
        <p:spPr/>
        <p:txBody>
          <a:bodyPr>
            <a:normAutofit/>
          </a:bodyPr>
          <a:lstStyle/>
          <a:p>
            <a:r>
              <a:rPr lang="en-US" dirty="0"/>
              <a:t>Project Overview</a:t>
            </a:r>
          </a:p>
          <a:p>
            <a:r>
              <a:rPr lang="en-US" dirty="0"/>
              <a:t>Problem Statement And Solution</a:t>
            </a:r>
          </a:p>
          <a:p>
            <a:r>
              <a:rPr lang="en-US" dirty="0"/>
              <a:t>Project Objectives</a:t>
            </a:r>
          </a:p>
          <a:p>
            <a:r>
              <a:rPr lang="en-US" dirty="0"/>
              <a:t>Importance of the Project</a:t>
            </a:r>
          </a:p>
          <a:p>
            <a:r>
              <a:rPr lang="en-US" dirty="0"/>
              <a:t>Methodology</a:t>
            </a:r>
          </a:p>
          <a:p>
            <a:r>
              <a:rPr lang="en-US" dirty="0"/>
              <a:t>Block Diagram For System</a:t>
            </a:r>
          </a:p>
          <a:p>
            <a:r>
              <a:rPr lang="en-US" dirty="0"/>
              <a:t>Expected Outcome</a:t>
            </a:r>
          </a:p>
          <a:p>
            <a:r>
              <a:rPr lang="en-US" dirty="0"/>
              <a:t>Project Timeline</a:t>
            </a:r>
          </a:p>
        </p:txBody>
      </p:sp>
    </p:spTree>
    <p:extLst>
      <p:ext uri="{BB962C8B-B14F-4D97-AF65-F5344CB8AC3E}">
        <p14:creationId xmlns:p14="http://schemas.microsoft.com/office/powerpoint/2010/main" val="1926524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FABF8-53B2-680B-C164-525309298C85}"/>
              </a:ext>
            </a:extLst>
          </p:cNvPr>
          <p:cNvSpPr>
            <a:spLocks noGrp="1"/>
          </p:cNvSpPr>
          <p:nvPr>
            <p:ph type="title"/>
          </p:nvPr>
        </p:nvSpPr>
        <p:spPr/>
        <p:txBody>
          <a:bodyPr>
            <a:normAutofit/>
          </a:bodyPr>
          <a:lstStyle/>
          <a:p>
            <a:r>
              <a:rPr lang="en-US" sz="5400" b="1" dirty="0"/>
              <a:t>Project Overview</a:t>
            </a:r>
          </a:p>
        </p:txBody>
      </p:sp>
      <p:sp>
        <p:nvSpPr>
          <p:cNvPr id="3" name="Content Placeholder 2">
            <a:extLst>
              <a:ext uri="{FF2B5EF4-FFF2-40B4-BE49-F238E27FC236}">
                <a16:creationId xmlns:a16="http://schemas.microsoft.com/office/drawing/2014/main" id="{0E81739E-AC9D-9345-5F63-71242845974A}"/>
              </a:ext>
            </a:extLst>
          </p:cNvPr>
          <p:cNvSpPr>
            <a:spLocks noGrp="1"/>
          </p:cNvSpPr>
          <p:nvPr>
            <p:ph idx="1"/>
          </p:nvPr>
        </p:nvSpPr>
        <p:spPr/>
        <p:txBody>
          <a:bodyPr>
            <a:normAutofit fontScale="92500" lnSpcReduction="10000"/>
          </a:bodyPr>
          <a:lstStyle/>
          <a:p>
            <a:r>
              <a:rPr lang="en-US" dirty="0"/>
              <a:t>Robotics has evolved through integration of computer vison and automation</a:t>
            </a:r>
          </a:p>
          <a:p>
            <a:r>
              <a:rPr lang="en-US" dirty="0"/>
              <a:t>Object identification based on shape and color is quite an important aspect in computer vision</a:t>
            </a:r>
          </a:p>
          <a:p>
            <a:r>
              <a:rPr lang="en-US" dirty="0"/>
              <a:t>Applications span across:</a:t>
            </a:r>
          </a:p>
          <a:p>
            <a:pPr>
              <a:buFontTx/>
              <a:buChar char="-"/>
            </a:pPr>
            <a:r>
              <a:rPr lang="en-US" dirty="0"/>
              <a:t>Industry production</a:t>
            </a:r>
          </a:p>
          <a:p>
            <a:pPr>
              <a:buFontTx/>
              <a:buChar char="-"/>
            </a:pPr>
            <a:r>
              <a:rPr lang="en-US" dirty="0"/>
              <a:t>Military combat</a:t>
            </a:r>
          </a:p>
          <a:p>
            <a:pPr>
              <a:buFontTx/>
              <a:buChar char="-"/>
            </a:pPr>
            <a:r>
              <a:rPr lang="en-US" dirty="0"/>
              <a:t>Food Processing</a:t>
            </a:r>
          </a:p>
          <a:p>
            <a:pPr>
              <a:buFontTx/>
              <a:buChar char="-"/>
            </a:pPr>
            <a:r>
              <a:rPr lang="en-US" dirty="0"/>
              <a:t>Agriculture</a:t>
            </a:r>
          </a:p>
          <a:p>
            <a:pPr>
              <a:buFontTx/>
              <a:buChar char="-"/>
            </a:pPr>
            <a:r>
              <a:rPr lang="en-US" dirty="0"/>
              <a:t>Waste Management</a:t>
            </a:r>
          </a:p>
        </p:txBody>
      </p:sp>
    </p:spTree>
    <p:extLst>
      <p:ext uri="{BB962C8B-B14F-4D97-AF65-F5344CB8AC3E}">
        <p14:creationId xmlns:p14="http://schemas.microsoft.com/office/powerpoint/2010/main" val="3278125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7624-057D-A29C-7D3F-22E61BB499A2}"/>
              </a:ext>
            </a:extLst>
          </p:cNvPr>
          <p:cNvSpPr>
            <a:spLocks noGrp="1"/>
          </p:cNvSpPr>
          <p:nvPr>
            <p:ph type="title"/>
          </p:nvPr>
        </p:nvSpPr>
        <p:spPr/>
        <p:txBody>
          <a:bodyPr>
            <a:normAutofit/>
          </a:bodyPr>
          <a:lstStyle/>
          <a:p>
            <a:r>
              <a:rPr lang="en-US" sz="5400" b="1" dirty="0"/>
              <a:t>Problem Statement</a:t>
            </a:r>
          </a:p>
        </p:txBody>
      </p:sp>
      <p:sp>
        <p:nvSpPr>
          <p:cNvPr id="3" name="Content Placeholder 2">
            <a:extLst>
              <a:ext uri="{FF2B5EF4-FFF2-40B4-BE49-F238E27FC236}">
                <a16:creationId xmlns:a16="http://schemas.microsoft.com/office/drawing/2014/main" id="{3E07BEC7-F031-5F60-07EF-E4458522ABA1}"/>
              </a:ext>
            </a:extLst>
          </p:cNvPr>
          <p:cNvSpPr>
            <a:spLocks noGrp="1"/>
          </p:cNvSpPr>
          <p:nvPr>
            <p:ph idx="1"/>
          </p:nvPr>
        </p:nvSpPr>
        <p:spPr/>
        <p:txBody>
          <a:bodyPr>
            <a:normAutofit fontScale="92500" lnSpcReduction="20000"/>
          </a:bodyPr>
          <a:lstStyle/>
          <a:p>
            <a:pPr marL="0" indent="0">
              <a:buNone/>
            </a:pPr>
            <a:r>
              <a:rPr lang="en-US" dirty="0"/>
              <a:t>Scenario: Every morning on KNUST campus waste workers are seen segregating waste manually. Despite efforts in labelling bins for easier segregation we still go the extra mile for specific sorting of waste.</a:t>
            </a:r>
          </a:p>
          <a:p>
            <a:pPr marL="0" indent="0">
              <a:buNone/>
            </a:pPr>
            <a:endParaRPr lang="en-US" dirty="0"/>
          </a:p>
          <a:p>
            <a:pPr marL="0" indent="0">
              <a:buNone/>
            </a:pPr>
            <a:r>
              <a:rPr lang="en-US" dirty="0"/>
              <a:t>Effects</a:t>
            </a:r>
          </a:p>
          <a:p>
            <a:r>
              <a:rPr lang="en-US" dirty="0"/>
              <a:t>Contamination</a:t>
            </a:r>
          </a:p>
          <a:p>
            <a:r>
              <a:rPr lang="en-US" dirty="0"/>
              <a:t>Health Hazards</a:t>
            </a:r>
          </a:p>
          <a:p>
            <a:r>
              <a:rPr lang="en-US" dirty="0"/>
              <a:t>Social Stigma</a:t>
            </a:r>
          </a:p>
          <a:p>
            <a:r>
              <a:rPr lang="en-US" dirty="0"/>
              <a:t>Landfill Overload </a:t>
            </a:r>
          </a:p>
          <a:p>
            <a:r>
              <a:rPr lang="en-US" dirty="0"/>
              <a:t>Lost Resources</a:t>
            </a:r>
          </a:p>
          <a:p>
            <a:pPr marL="0" indent="0">
              <a:buNone/>
            </a:pPr>
            <a:r>
              <a:rPr lang="en-US" dirty="0"/>
              <a:t> </a:t>
            </a:r>
          </a:p>
        </p:txBody>
      </p:sp>
    </p:spTree>
    <p:extLst>
      <p:ext uri="{BB962C8B-B14F-4D97-AF65-F5344CB8AC3E}">
        <p14:creationId xmlns:p14="http://schemas.microsoft.com/office/powerpoint/2010/main" val="3390806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3C635-DA45-0862-6B50-EA7C6C5BA752}"/>
              </a:ext>
            </a:extLst>
          </p:cNvPr>
          <p:cNvSpPr>
            <a:spLocks noGrp="1"/>
          </p:cNvSpPr>
          <p:nvPr>
            <p:ph type="ctrTitle"/>
          </p:nvPr>
        </p:nvSpPr>
        <p:spPr/>
        <p:txBody>
          <a:bodyPr/>
          <a:lstStyle/>
          <a:p>
            <a:r>
              <a:rPr lang="en-US" b="1" dirty="0"/>
              <a:t>Solution</a:t>
            </a:r>
          </a:p>
        </p:txBody>
      </p:sp>
      <p:sp>
        <p:nvSpPr>
          <p:cNvPr id="3" name="Subtitle 2">
            <a:extLst>
              <a:ext uri="{FF2B5EF4-FFF2-40B4-BE49-F238E27FC236}">
                <a16:creationId xmlns:a16="http://schemas.microsoft.com/office/drawing/2014/main" id="{08C38A03-8934-788E-5C55-B37C0823E6C9}"/>
              </a:ext>
            </a:extLst>
          </p:cNvPr>
          <p:cNvSpPr>
            <a:spLocks noGrp="1"/>
          </p:cNvSpPr>
          <p:nvPr>
            <p:ph type="subTitle" idx="1"/>
          </p:nvPr>
        </p:nvSpPr>
        <p:spPr/>
        <p:txBody>
          <a:bodyPr/>
          <a:lstStyle/>
          <a:p>
            <a:r>
              <a:rPr lang="en-US" dirty="0"/>
              <a:t>To design and implement a vision-based sorting arm for waste segregation (detect and sort objects based on their shape and color)</a:t>
            </a:r>
          </a:p>
        </p:txBody>
      </p:sp>
    </p:spTree>
    <p:extLst>
      <p:ext uri="{BB962C8B-B14F-4D97-AF65-F5344CB8AC3E}">
        <p14:creationId xmlns:p14="http://schemas.microsoft.com/office/powerpoint/2010/main" val="18284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69410-1CFD-96DB-628A-AB023F758262}"/>
              </a:ext>
            </a:extLst>
          </p:cNvPr>
          <p:cNvSpPr>
            <a:spLocks noGrp="1"/>
          </p:cNvSpPr>
          <p:nvPr>
            <p:ph type="title"/>
          </p:nvPr>
        </p:nvSpPr>
        <p:spPr/>
        <p:txBody>
          <a:bodyPr>
            <a:normAutofit/>
          </a:bodyPr>
          <a:lstStyle/>
          <a:p>
            <a:r>
              <a:rPr lang="en-US" sz="5400" b="1" dirty="0"/>
              <a:t>Specific Objectives</a:t>
            </a:r>
          </a:p>
        </p:txBody>
      </p:sp>
      <p:sp>
        <p:nvSpPr>
          <p:cNvPr id="3" name="Content Placeholder 2">
            <a:extLst>
              <a:ext uri="{FF2B5EF4-FFF2-40B4-BE49-F238E27FC236}">
                <a16:creationId xmlns:a16="http://schemas.microsoft.com/office/drawing/2014/main" id="{DF9D8CCA-14FF-A8CE-9828-41D05CBFD1DD}"/>
              </a:ext>
            </a:extLst>
          </p:cNvPr>
          <p:cNvSpPr>
            <a:spLocks noGrp="1"/>
          </p:cNvSpPr>
          <p:nvPr>
            <p:ph idx="1"/>
          </p:nvPr>
        </p:nvSpPr>
        <p:spPr/>
        <p:txBody>
          <a:bodyPr/>
          <a:lstStyle/>
          <a:p>
            <a:r>
              <a:rPr lang="en-US" dirty="0"/>
              <a:t>To review existing literature on automated waste sorting, shape/color recognition, and robotic arm control</a:t>
            </a:r>
          </a:p>
          <a:p>
            <a:r>
              <a:rPr lang="en-US" dirty="0"/>
              <a:t>To design a robotic arm module with camera integration for object positioning and manipulation</a:t>
            </a:r>
          </a:p>
          <a:p>
            <a:r>
              <a:rPr lang="en-US" dirty="0"/>
              <a:t>To develop image processing algorithms and control logic for real-time identification and sorting</a:t>
            </a:r>
          </a:p>
          <a:p>
            <a:r>
              <a:rPr lang="en-US" dirty="0"/>
              <a:t>To test system functionality for accuracy, response time and reliability under varying conditions</a:t>
            </a:r>
          </a:p>
        </p:txBody>
      </p:sp>
    </p:spTree>
    <p:extLst>
      <p:ext uri="{BB962C8B-B14F-4D97-AF65-F5344CB8AC3E}">
        <p14:creationId xmlns:p14="http://schemas.microsoft.com/office/powerpoint/2010/main" val="673787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D6D3-D9EA-3BB7-93E5-EA73EDECEFF0}"/>
              </a:ext>
            </a:extLst>
          </p:cNvPr>
          <p:cNvSpPr>
            <a:spLocks noGrp="1"/>
          </p:cNvSpPr>
          <p:nvPr>
            <p:ph type="title"/>
          </p:nvPr>
        </p:nvSpPr>
        <p:spPr/>
        <p:txBody>
          <a:bodyPr>
            <a:normAutofit/>
          </a:bodyPr>
          <a:lstStyle/>
          <a:p>
            <a:r>
              <a:rPr lang="en-US" sz="5400" b="1" dirty="0"/>
              <a:t>Importance of the Project</a:t>
            </a:r>
          </a:p>
        </p:txBody>
      </p:sp>
      <p:sp>
        <p:nvSpPr>
          <p:cNvPr id="3" name="Content Placeholder 2">
            <a:extLst>
              <a:ext uri="{FF2B5EF4-FFF2-40B4-BE49-F238E27FC236}">
                <a16:creationId xmlns:a16="http://schemas.microsoft.com/office/drawing/2014/main" id="{996D397E-3CBE-3B11-8D6C-E4341F6E71F1}"/>
              </a:ext>
            </a:extLst>
          </p:cNvPr>
          <p:cNvSpPr>
            <a:spLocks noGrp="1"/>
          </p:cNvSpPr>
          <p:nvPr>
            <p:ph idx="1"/>
          </p:nvPr>
        </p:nvSpPr>
        <p:spPr/>
        <p:txBody>
          <a:bodyPr/>
          <a:lstStyle/>
          <a:p>
            <a:r>
              <a:rPr lang="en-US" dirty="0"/>
              <a:t>Environmental: Encourages proper waste management, reduce landfill pollution</a:t>
            </a:r>
          </a:p>
          <a:p>
            <a:r>
              <a:rPr lang="en-US" dirty="0"/>
              <a:t>Education: Hands-on learning in robotics</a:t>
            </a:r>
          </a:p>
          <a:p>
            <a:r>
              <a:rPr lang="en-US" dirty="0"/>
              <a:t>Health and Safety: Remove humans from direct contact with hazardous waste materials</a:t>
            </a:r>
          </a:p>
          <a:p>
            <a:r>
              <a:rPr lang="en-US" dirty="0"/>
              <a:t>Economy: Higher-value for recyclables and also supports recycling industries</a:t>
            </a:r>
          </a:p>
          <a:p>
            <a:r>
              <a:rPr lang="en-US" dirty="0"/>
              <a:t>Technology: Literacy on technology as a nation improves</a:t>
            </a:r>
          </a:p>
        </p:txBody>
      </p:sp>
    </p:spTree>
    <p:extLst>
      <p:ext uri="{BB962C8B-B14F-4D97-AF65-F5344CB8AC3E}">
        <p14:creationId xmlns:p14="http://schemas.microsoft.com/office/powerpoint/2010/main" val="3707111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6078-F213-882C-E90B-FDBDC7292728}"/>
              </a:ext>
            </a:extLst>
          </p:cNvPr>
          <p:cNvSpPr>
            <a:spLocks noGrp="1"/>
          </p:cNvSpPr>
          <p:nvPr>
            <p:ph type="title"/>
          </p:nvPr>
        </p:nvSpPr>
        <p:spPr/>
        <p:txBody>
          <a:bodyPr>
            <a:normAutofit/>
          </a:bodyPr>
          <a:lstStyle/>
          <a:p>
            <a:r>
              <a:rPr lang="en-US" sz="5400" b="1" dirty="0"/>
              <a:t>Methodology-Hardware Components</a:t>
            </a:r>
          </a:p>
        </p:txBody>
      </p:sp>
      <p:sp>
        <p:nvSpPr>
          <p:cNvPr id="3" name="Text Placeholder 2">
            <a:extLst>
              <a:ext uri="{FF2B5EF4-FFF2-40B4-BE49-F238E27FC236}">
                <a16:creationId xmlns:a16="http://schemas.microsoft.com/office/drawing/2014/main" id="{F465D565-6485-E59D-39EE-380868D5254D}"/>
              </a:ext>
            </a:extLst>
          </p:cNvPr>
          <p:cNvSpPr>
            <a:spLocks noGrp="1"/>
          </p:cNvSpPr>
          <p:nvPr>
            <p:ph type="body" idx="1"/>
          </p:nvPr>
        </p:nvSpPr>
        <p:spPr/>
        <p:txBody>
          <a:bodyPr/>
          <a:lstStyle/>
          <a:p>
            <a:r>
              <a:rPr lang="en-US" dirty="0"/>
              <a:t>Component</a:t>
            </a:r>
          </a:p>
        </p:txBody>
      </p:sp>
      <p:sp>
        <p:nvSpPr>
          <p:cNvPr id="4" name="Content Placeholder 3">
            <a:extLst>
              <a:ext uri="{FF2B5EF4-FFF2-40B4-BE49-F238E27FC236}">
                <a16:creationId xmlns:a16="http://schemas.microsoft.com/office/drawing/2014/main" id="{5CE59E64-B20D-542C-B42C-8B064E34FBFD}"/>
              </a:ext>
            </a:extLst>
          </p:cNvPr>
          <p:cNvSpPr>
            <a:spLocks noGrp="1"/>
          </p:cNvSpPr>
          <p:nvPr>
            <p:ph sz="half" idx="2"/>
          </p:nvPr>
        </p:nvSpPr>
        <p:spPr/>
        <p:txBody>
          <a:bodyPr>
            <a:normAutofit fontScale="70000" lnSpcReduction="20000"/>
          </a:bodyPr>
          <a:lstStyle/>
          <a:p>
            <a:r>
              <a:rPr lang="en-US" dirty="0"/>
              <a:t>Raspberry Pi + Camera Module( </a:t>
            </a:r>
            <a:r>
              <a:rPr lang="en-US" dirty="0" err="1"/>
              <a:t>PixyCMU</a:t>
            </a:r>
            <a:r>
              <a:rPr lang="en-US" dirty="0"/>
              <a:t> Cam5 V1)[1]</a:t>
            </a:r>
          </a:p>
          <a:p>
            <a:pPr marL="0" indent="0">
              <a:buNone/>
            </a:pPr>
            <a:endParaRPr lang="en-US" dirty="0"/>
          </a:p>
          <a:p>
            <a:r>
              <a:rPr lang="en-US" dirty="0"/>
              <a:t>Arduino(Mega 2560 Rev3)[1]</a:t>
            </a:r>
          </a:p>
          <a:p>
            <a:endParaRPr lang="en-US" dirty="0"/>
          </a:p>
          <a:p>
            <a:r>
              <a:rPr lang="en-US" dirty="0"/>
              <a:t>Robotic arm with servo motors(Tower Pro MG996R)[1]</a:t>
            </a:r>
          </a:p>
          <a:p>
            <a:endParaRPr lang="en-US" dirty="0"/>
          </a:p>
          <a:p>
            <a:r>
              <a:rPr lang="en-US" dirty="0"/>
              <a:t>Sorting bins</a:t>
            </a:r>
          </a:p>
          <a:p>
            <a:endParaRPr lang="en-US" dirty="0"/>
          </a:p>
          <a:p>
            <a:r>
              <a:rPr lang="en-US" dirty="0"/>
              <a:t>Power Supply</a:t>
            </a:r>
          </a:p>
        </p:txBody>
      </p:sp>
      <p:sp>
        <p:nvSpPr>
          <p:cNvPr id="5" name="Text Placeholder 4">
            <a:extLst>
              <a:ext uri="{FF2B5EF4-FFF2-40B4-BE49-F238E27FC236}">
                <a16:creationId xmlns:a16="http://schemas.microsoft.com/office/drawing/2014/main" id="{E1F65369-599C-757D-0A10-1619A505AC69}"/>
              </a:ext>
            </a:extLst>
          </p:cNvPr>
          <p:cNvSpPr>
            <a:spLocks noGrp="1"/>
          </p:cNvSpPr>
          <p:nvPr>
            <p:ph type="body" sz="quarter" idx="3"/>
          </p:nvPr>
        </p:nvSpPr>
        <p:spPr/>
        <p:txBody>
          <a:bodyPr/>
          <a:lstStyle/>
          <a:p>
            <a:r>
              <a:rPr lang="en-US" dirty="0"/>
              <a:t>Purpose</a:t>
            </a:r>
          </a:p>
        </p:txBody>
      </p:sp>
      <p:sp>
        <p:nvSpPr>
          <p:cNvPr id="6" name="Content Placeholder 5">
            <a:extLst>
              <a:ext uri="{FF2B5EF4-FFF2-40B4-BE49-F238E27FC236}">
                <a16:creationId xmlns:a16="http://schemas.microsoft.com/office/drawing/2014/main" id="{787CC895-32C9-F33C-E2FC-61078352488F}"/>
              </a:ext>
            </a:extLst>
          </p:cNvPr>
          <p:cNvSpPr>
            <a:spLocks noGrp="1"/>
          </p:cNvSpPr>
          <p:nvPr>
            <p:ph sz="quarter" idx="4"/>
          </p:nvPr>
        </p:nvSpPr>
        <p:spPr/>
        <p:txBody>
          <a:bodyPr>
            <a:normAutofit fontScale="70000" lnSpcReduction="20000"/>
          </a:bodyPr>
          <a:lstStyle/>
          <a:p>
            <a:r>
              <a:rPr lang="en-US" dirty="0"/>
              <a:t>Runs OpenCV for real-time color and shape detection.(Image Processing)</a:t>
            </a:r>
          </a:p>
          <a:p>
            <a:endParaRPr lang="en-US" dirty="0"/>
          </a:p>
          <a:p>
            <a:r>
              <a:rPr lang="en-US" dirty="0"/>
              <a:t>Controls servo motors for arm movement</a:t>
            </a:r>
          </a:p>
          <a:p>
            <a:endParaRPr lang="en-US" dirty="0"/>
          </a:p>
          <a:p>
            <a:r>
              <a:rPr lang="en-US" dirty="0"/>
              <a:t>Executes picking and placing operations</a:t>
            </a:r>
          </a:p>
          <a:p>
            <a:endParaRPr lang="en-US" dirty="0"/>
          </a:p>
          <a:p>
            <a:r>
              <a:rPr lang="en-US" dirty="0" err="1"/>
              <a:t>Seperates</a:t>
            </a:r>
            <a:r>
              <a:rPr lang="en-US" dirty="0"/>
              <a:t> containers for different waste categories</a:t>
            </a:r>
          </a:p>
          <a:p>
            <a:endParaRPr lang="en-US" dirty="0"/>
          </a:p>
          <a:p>
            <a:r>
              <a:rPr lang="en-US" dirty="0"/>
              <a:t>Provides necessary voltage for all components</a:t>
            </a:r>
          </a:p>
        </p:txBody>
      </p:sp>
    </p:spTree>
    <p:extLst>
      <p:ext uri="{BB962C8B-B14F-4D97-AF65-F5344CB8AC3E}">
        <p14:creationId xmlns:p14="http://schemas.microsoft.com/office/powerpoint/2010/main" val="371525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7CF8E-DAB7-3369-ABEA-DA7AC159C7C5}"/>
              </a:ext>
            </a:extLst>
          </p:cNvPr>
          <p:cNvSpPr>
            <a:spLocks noGrp="1"/>
          </p:cNvSpPr>
          <p:nvPr>
            <p:ph type="title"/>
          </p:nvPr>
        </p:nvSpPr>
        <p:spPr>
          <a:xfrm>
            <a:off x="839788" y="365125"/>
            <a:ext cx="10515600" cy="1217513"/>
          </a:xfrm>
        </p:spPr>
        <p:txBody>
          <a:bodyPr>
            <a:normAutofit/>
          </a:bodyPr>
          <a:lstStyle/>
          <a:p>
            <a:r>
              <a:rPr lang="en-US" sz="5400" b="1" dirty="0"/>
              <a:t>Methodology-Software Components</a:t>
            </a:r>
          </a:p>
        </p:txBody>
      </p:sp>
      <p:sp>
        <p:nvSpPr>
          <p:cNvPr id="3" name="Text Placeholder 2">
            <a:extLst>
              <a:ext uri="{FF2B5EF4-FFF2-40B4-BE49-F238E27FC236}">
                <a16:creationId xmlns:a16="http://schemas.microsoft.com/office/drawing/2014/main" id="{823B7669-0EFD-7157-BD29-C346A7BE4639}"/>
              </a:ext>
            </a:extLst>
          </p:cNvPr>
          <p:cNvSpPr>
            <a:spLocks noGrp="1"/>
          </p:cNvSpPr>
          <p:nvPr>
            <p:ph type="body" idx="1"/>
          </p:nvPr>
        </p:nvSpPr>
        <p:spPr/>
        <p:txBody>
          <a:bodyPr/>
          <a:lstStyle/>
          <a:p>
            <a:r>
              <a:rPr lang="en-US" dirty="0"/>
              <a:t>Tool</a:t>
            </a:r>
          </a:p>
        </p:txBody>
      </p:sp>
      <p:sp>
        <p:nvSpPr>
          <p:cNvPr id="4" name="Content Placeholder 3">
            <a:extLst>
              <a:ext uri="{FF2B5EF4-FFF2-40B4-BE49-F238E27FC236}">
                <a16:creationId xmlns:a16="http://schemas.microsoft.com/office/drawing/2014/main" id="{2092CAC8-8E5C-9411-B3BA-FC1386177339}"/>
              </a:ext>
            </a:extLst>
          </p:cNvPr>
          <p:cNvSpPr>
            <a:spLocks noGrp="1"/>
          </p:cNvSpPr>
          <p:nvPr>
            <p:ph sz="half" idx="2"/>
          </p:nvPr>
        </p:nvSpPr>
        <p:spPr/>
        <p:txBody>
          <a:bodyPr>
            <a:normAutofit fontScale="85000" lnSpcReduction="20000"/>
          </a:bodyPr>
          <a:lstStyle/>
          <a:p>
            <a:r>
              <a:rPr lang="en-US" dirty="0"/>
              <a:t>Arduino IDE 2.3.7</a:t>
            </a:r>
          </a:p>
          <a:p>
            <a:pPr marL="0" indent="0">
              <a:buNone/>
            </a:pPr>
            <a:endParaRPr lang="en-US" dirty="0"/>
          </a:p>
          <a:p>
            <a:r>
              <a:rPr lang="en-US" dirty="0"/>
              <a:t>Python 3.14.3</a:t>
            </a:r>
          </a:p>
          <a:p>
            <a:endParaRPr lang="en-US" dirty="0"/>
          </a:p>
          <a:p>
            <a:r>
              <a:rPr lang="en-US" dirty="0"/>
              <a:t>OpenCV</a:t>
            </a:r>
          </a:p>
          <a:p>
            <a:pPr marL="0" indent="0">
              <a:buNone/>
            </a:pPr>
            <a:endParaRPr lang="en-US" dirty="0"/>
          </a:p>
          <a:p>
            <a:r>
              <a:rPr lang="en-US" dirty="0"/>
              <a:t>SolidWorks</a:t>
            </a:r>
          </a:p>
          <a:p>
            <a:endParaRPr lang="en-US" dirty="0"/>
          </a:p>
          <a:p>
            <a:r>
              <a:rPr lang="en-US" dirty="0"/>
              <a:t>Serial Communication Protocol</a:t>
            </a:r>
          </a:p>
        </p:txBody>
      </p:sp>
      <p:sp>
        <p:nvSpPr>
          <p:cNvPr id="5" name="Text Placeholder 4">
            <a:extLst>
              <a:ext uri="{FF2B5EF4-FFF2-40B4-BE49-F238E27FC236}">
                <a16:creationId xmlns:a16="http://schemas.microsoft.com/office/drawing/2014/main" id="{FE13C920-51E6-1B7A-DDB4-49980BC2B817}"/>
              </a:ext>
            </a:extLst>
          </p:cNvPr>
          <p:cNvSpPr>
            <a:spLocks noGrp="1"/>
          </p:cNvSpPr>
          <p:nvPr>
            <p:ph type="body" sz="quarter" idx="3"/>
          </p:nvPr>
        </p:nvSpPr>
        <p:spPr/>
        <p:txBody>
          <a:bodyPr/>
          <a:lstStyle/>
          <a:p>
            <a:r>
              <a:rPr lang="en-US" dirty="0"/>
              <a:t>Purpose</a:t>
            </a:r>
          </a:p>
        </p:txBody>
      </p:sp>
      <p:sp>
        <p:nvSpPr>
          <p:cNvPr id="6" name="Content Placeholder 5">
            <a:extLst>
              <a:ext uri="{FF2B5EF4-FFF2-40B4-BE49-F238E27FC236}">
                <a16:creationId xmlns:a16="http://schemas.microsoft.com/office/drawing/2014/main" id="{E0E0358F-3439-07F2-2AAC-A7C3751A3A04}"/>
              </a:ext>
            </a:extLst>
          </p:cNvPr>
          <p:cNvSpPr>
            <a:spLocks noGrp="1"/>
          </p:cNvSpPr>
          <p:nvPr>
            <p:ph sz="quarter" idx="4"/>
          </p:nvPr>
        </p:nvSpPr>
        <p:spPr>
          <a:xfrm>
            <a:off x="6172200" y="2413635"/>
            <a:ext cx="5183188" cy="655003"/>
          </a:xfrm>
        </p:spPr>
        <p:txBody>
          <a:bodyPr>
            <a:normAutofit fontScale="85000" lnSpcReduction="20000"/>
          </a:bodyPr>
          <a:lstStyle/>
          <a:p>
            <a:r>
              <a:rPr lang="en-US" dirty="0"/>
              <a:t>Writing and uploading C++ code to control servo motors</a:t>
            </a:r>
          </a:p>
        </p:txBody>
      </p:sp>
      <p:sp>
        <p:nvSpPr>
          <p:cNvPr id="8" name="TextBox 7">
            <a:extLst>
              <a:ext uri="{FF2B5EF4-FFF2-40B4-BE49-F238E27FC236}">
                <a16:creationId xmlns:a16="http://schemas.microsoft.com/office/drawing/2014/main" id="{B9CFA68A-A259-1490-B159-7CA922AF2DF6}"/>
              </a:ext>
            </a:extLst>
          </p:cNvPr>
          <p:cNvSpPr txBox="1"/>
          <p:nvPr/>
        </p:nvSpPr>
        <p:spPr>
          <a:xfrm>
            <a:off x="6163628" y="3079116"/>
            <a:ext cx="5180012"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Running OpenCV library for object detection</a:t>
            </a:r>
          </a:p>
        </p:txBody>
      </p:sp>
      <p:sp>
        <p:nvSpPr>
          <p:cNvPr id="9" name="TextBox 8">
            <a:extLst>
              <a:ext uri="{FF2B5EF4-FFF2-40B4-BE49-F238E27FC236}">
                <a16:creationId xmlns:a16="http://schemas.microsoft.com/office/drawing/2014/main" id="{14495743-4E72-84D7-157F-FF32DC92B2EB}"/>
              </a:ext>
            </a:extLst>
          </p:cNvPr>
          <p:cNvSpPr txBox="1"/>
          <p:nvPr/>
        </p:nvSpPr>
        <p:spPr>
          <a:xfrm>
            <a:off x="6167120" y="3889793"/>
            <a:ext cx="4897120"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Computer Vision library for image processing and object recognition</a:t>
            </a:r>
          </a:p>
        </p:txBody>
      </p:sp>
      <p:sp>
        <p:nvSpPr>
          <p:cNvPr id="10" name="TextBox 9">
            <a:extLst>
              <a:ext uri="{FF2B5EF4-FFF2-40B4-BE49-F238E27FC236}">
                <a16:creationId xmlns:a16="http://schemas.microsoft.com/office/drawing/2014/main" id="{1B555A92-16E8-A696-0F9A-3DBA69661556}"/>
              </a:ext>
            </a:extLst>
          </p:cNvPr>
          <p:cNvSpPr txBox="1"/>
          <p:nvPr/>
        </p:nvSpPr>
        <p:spPr>
          <a:xfrm>
            <a:off x="6167120" y="4720790"/>
            <a:ext cx="5012372"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3D modeling and design of robotic arm</a:t>
            </a:r>
          </a:p>
        </p:txBody>
      </p:sp>
      <p:sp>
        <p:nvSpPr>
          <p:cNvPr id="11" name="TextBox 10">
            <a:extLst>
              <a:ext uri="{FF2B5EF4-FFF2-40B4-BE49-F238E27FC236}">
                <a16:creationId xmlns:a16="http://schemas.microsoft.com/office/drawing/2014/main" id="{9CCFEC36-D8CD-C3DF-C2A0-923AB8C3905F}"/>
              </a:ext>
            </a:extLst>
          </p:cNvPr>
          <p:cNvSpPr txBox="1"/>
          <p:nvPr/>
        </p:nvSpPr>
        <p:spPr>
          <a:xfrm>
            <a:off x="6177280" y="5551787"/>
            <a:ext cx="5151120"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Data exchange between Raspberry Pi and Arduino</a:t>
            </a:r>
          </a:p>
        </p:txBody>
      </p:sp>
    </p:spTree>
    <p:extLst>
      <p:ext uri="{BB962C8B-B14F-4D97-AF65-F5344CB8AC3E}">
        <p14:creationId xmlns:p14="http://schemas.microsoft.com/office/powerpoint/2010/main" val="125294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1FFED-E8DF-AEE5-C5B3-944F4B45ED14}"/>
              </a:ext>
            </a:extLst>
          </p:cNvPr>
          <p:cNvSpPr>
            <a:spLocks noGrp="1"/>
          </p:cNvSpPr>
          <p:nvPr>
            <p:ph type="title"/>
          </p:nvPr>
        </p:nvSpPr>
        <p:spPr/>
        <p:txBody>
          <a:bodyPr>
            <a:normAutofit/>
          </a:bodyPr>
          <a:lstStyle/>
          <a:p>
            <a:r>
              <a:rPr lang="en-US" sz="5400" b="1" dirty="0"/>
              <a:t>System Block Diagram</a:t>
            </a:r>
          </a:p>
        </p:txBody>
      </p:sp>
      <p:pic>
        <p:nvPicPr>
          <p:cNvPr id="5" name="Content Placeholder 4">
            <a:extLst>
              <a:ext uri="{FF2B5EF4-FFF2-40B4-BE49-F238E27FC236}">
                <a16:creationId xmlns:a16="http://schemas.microsoft.com/office/drawing/2014/main" id="{31BEC0E2-0959-A70A-72EB-B1BC060ED8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0245" y="2294584"/>
            <a:ext cx="6751510" cy="2876843"/>
          </a:xfrm>
        </p:spPr>
      </p:pic>
    </p:spTree>
    <p:extLst>
      <p:ext uri="{BB962C8B-B14F-4D97-AF65-F5344CB8AC3E}">
        <p14:creationId xmlns:p14="http://schemas.microsoft.com/office/powerpoint/2010/main" val="4250745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CA84-1229-AAEA-479E-A2C20FDFCAA5}"/>
              </a:ext>
            </a:extLst>
          </p:cNvPr>
          <p:cNvSpPr>
            <a:spLocks noGrp="1"/>
          </p:cNvSpPr>
          <p:nvPr>
            <p:ph type="title"/>
          </p:nvPr>
        </p:nvSpPr>
        <p:spPr/>
        <p:txBody>
          <a:bodyPr>
            <a:normAutofit/>
          </a:bodyPr>
          <a:lstStyle/>
          <a:p>
            <a:r>
              <a:rPr lang="en-US" sz="5400" b="1" dirty="0"/>
              <a:t>Expected Outcome</a:t>
            </a:r>
          </a:p>
        </p:txBody>
      </p:sp>
      <p:sp>
        <p:nvSpPr>
          <p:cNvPr id="3" name="Content Placeholder 2">
            <a:extLst>
              <a:ext uri="{FF2B5EF4-FFF2-40B4-BE49-F238E27FC236}">
                <a16:creationId xmlns:a16="http://schemas.microsoft.com/office/drawing/2014/main" id="{8D3689D1-4F16-6A71-8E76-C1CF991344DA}"/>
              </a:ext>
            </a:extLst>
          </p:cNvPr>
          <p:cNvSpPr>
            <a:spLocks noGrp="1"/>
          </p:cNvSpPr>
          <p:nvPr>
            <p:ph idx="1"/>
          </p:nvPr>
        </p:nvSpPr>
        <p:spPr/>
        <p:txBody>
          <a:bodyPr/>
          <a:lstStyle/>
          <a:p>
            <a:r>
              <a:rPr lang="en-US" dirty="0"/>
              <a:t>Working Prototype</a:t>
            </a:r>
          </a:p>
          <a:p>
            <a:r>
              <a:rPr lang="en-US" dirty="0"/>
              <a:t>Technical Report</a:t>
            </a:r>
          </a:p>
          <a:p>
            <a:r>
              <a:rPr lang="en-US" dirty="0"/>
              <a:t>User Manual</a:t>
            </a:r>
          </a:p>
          <a:p>
            <a:endParaRPr lang="en-US" dirty="0"/>
          </a:p>
          <a:p>
            <a:pPr marL="0" indent="0">
              <a:buNone/>
            </a:pPr>
            <a:r>
              <a:rPr lang="en-US" dirty="0"/>
              <a:t>Success Criteria</a:t>
            </a:r>
          </a:p>
          <a:p>
            <a:r>
              <a:rPr lang="en-US" dirty="0"/>
              <a:t>Accurate detection</a:t>
            </a:r>
          </a:p>
          <a:p>
            <a:r>
              <a:rPr lang="en-US" dirty="0"/>
              <a:t>Reliable picking and placing mechanism</a:t>
            </a:r>
          </a:p>
          <a:p>
            <a:r>
              <a:rPr lang="en-US" dirty="0"/>
              <a:t>Real-time processing capability</a:t>
            </a:r>
          </a:p>
        </p:txBody>
      </p:sp>
    </p:spTree>
    <p:extLst>
      <p:ext uri="{BB962C8B-B14F-4D97-AF65-F5344CB8AC3E}">
        <p14:creationId xmlns:p14="http://schemas.microsoft.com/office/powerpoint/2010/main" val="1647311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10077-6BD0-E588-C508-1EB7D2994B82}"/>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CBD39A0C-50C3-5026-6290-00D170857649}"/>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DBEDD71E-A0A5-584D-FBA6-4ED9816F0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09600"/>
            <a:ext cx="9144000" cy="5126037"/>
          </a:xfrm>
          <a:prstGeom prst="rect">
            <a:avLst/>
          </a:prstGeom>
        </p:spPr>
      </p:pic>
    </p:spTree>
    <p:extLst>
      <p:ext uri="{BB962C8B-B14F-4D97-AF65-F5344CB8AC3E}">
        <p14:creationId xmlns:p14="http://schemas.microsoft.com/office/powerpoint/2010/main" val="727618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AB9D8-9C0B-0F5C-A083-525AAA31D487}"/>
              </a:ext>
            </a:extLst>
          </p:cNvPr>
          <p:cNvSpPr>
            <a:spLocks noGrp="1"/>
          </p:cNvSpPr>
          <p:nvPr>
            <p:ph type="title"/>
          </p:nvPr>
        </p:nvSpPr>
        <p:spPr/>
        <p:txBody>
          <a:bodyPr>
            <a:normAutofit/>
          </a:bodyPr>
          <a:lstStyle/>
          <a:p>
            <a:r>
              <a:rPr lang="en-US" sz="5400" b="1" dirty="0"/>
              <a:t>Proposed Timeline</a:t>
            </a:r>
          </a:p>
        </p:txBody>
      </p:sp>
      <p:graphicFrame>
        <p:nvGraphicFramePr>
          <p:cNvPr id="4" name="Table 4">
            <a:extLst>
              <a:ext uri="{FF2B5EF4-FFF2-40B4-BE49-F238E27FC236}">
                <a16:creationId xmlns:a16="http://schemas.microsoft.com/office/drawing/2014/main" id="{8468047C-A55E-E866-49BD-937B7959CF23}"/>
              </a:ext>
            </a:extLst>
          </p:cNvPr>
          <p:cNvGraphicFramePr>
            <a:graphicFrameLocks noGrp="1"/>
          </p:cNvGraphicFramePr>
          <p:nvPr>
            <p:ph idx="1"/>
            <p:extLst>
              <p:ext uri="{D42A27DB-BD31-4B8C-83A1-F6EECF244321}">
                <p14:modId xmlns:p14="http://schemas.microsoft.com/office/powerpoint/2010/main" val="2597095598"/>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589729463"/>
                    </a:ext>
                  </a:extLst>
                </a:gridCol>
                <a:gridCol w="2628900">
                  <a:extLst>
                    <a:ext uri="{9D8B030D-6E8A-4147-A177-3AD203B41FA5}">
                      <a16:colId xmlns:a16="http://schemas.microsoft.com/office/drawing/2014/main" val="4006107435"/>
                    </a:ext>
                  </a:extLst>
                </a:gridCol>
                <a:gridCol w="2628900">
                  <a:extLst>
                    <a:ext uri="{9D8B030D-6E8A-4147-A177-3AD203B41FA5}">
                      <a16:colId xmlns:a16="http://schemas.microsoft.com/office/drawing/2014/main" val="3577591436"/>
                    </a:ext>
                  </a:extLst>
                </a:gridCol>
                <a:gridCol w="2628900">
                  <a:extLst>
                    <a:ext uri="{9D8B030D-6E8A-4147-A177-3AD203B41FA5}">
                      <a16:colId xmlns:a16="http://schemas.microsoft.com/office/drawing/2014/main" val="922124172"/>
                    </a:ext>
                  </a:extLst>
                </a:gridCol>
              </a:tblGrid>
              <a:tr h="370840">
                <a:tc>
                  <a:txBody>
                    <a:bodyPr/>
                    <a:lstStyle/>
                    <a:p>
                      <a:r>
                        <a:rPr lang="en-US" dirty="0"/>
                        <a:t>Activity</a:t>
                      </a:r>
                    </a:p>
                  </a:txBody>
                  <a:tcPr/>
                </a:tc>
                <a:tc>
                  <a:txBody>
                    <a:bodyPr/>
                    <a:lstStyle/>
                    <a:p>
                      <a:r>
                        <a:rPr lang="en-US" dirty="0"/>
                        <a:t>Duration</a:t>
                      </a:r>
                    </a:p>
                  </a:txBody>
                  <a:tcPr/>
                </a:tc>
                <a:tc>
                  <a:txBody>
                    <a:bodyPr/>
                    <a:lstStyle/>
                    <a:p>
                      <a:r>
                        <a:rPr lang="en-US" dirty="0"/>
                        <a:t>Start Date</a:t>
                      </a:r>
                    </a:p>
                  </a:txBody>
                  <a:tcPr/>
                </a:tc>
                <a:tc>
                  <a:txBody>
                    <a:bodyPr/>
                    <a:lstStyle/>
                    <a:p>
                      <a:r>
                        <a:rPr lang="en-US" dirty="0"/>
                        <a:t>End Date</a:t>
                      </a:r>
                    </a:p>
                  </a:txBody>
                  <a:tcPr/>
                </a:tc>
                <a:extLst>
                  <a:ext uri="{0D108BD9-81ED-4DB2-BD59-A6C34878D82A}">
                    <a16:rowId xmlns:a16="http://schemas.microsoft.com/office/drawing/2014/main" val="943649726"/>
                  </a:ext>
                </a:extLst>
              </a:tr>
              <a:tr h="370840">
                <a:tc>
                  <a:txBody>
                    <a:bodyPr/>
                    <a:lstStyle/>
                    <a:p>
                      <a:r>
                        <a:rPr lang="en-US" dirty="0"/>
                        <a:t>Literature Review</a:t>
                      </a:r>
                    </a:p>
                  </a:txBody>
                  <a:tcPr/>
                </a:tc>
                <a:tc>
                  <a:txBody>
                    <a:bodyPr/>
                    <a:lstStyle/>
                    <a:p>
                      <a:r>
                        <a:rPr lang="en-US" dirty="0"/>
                        <a:t>2 weeks</a:t>
                      </a:r>
                    </a:p>
                  </a:txBody>
                  <a:tcPr/>
                </a:tc>
                <a:tc>
                  <a:txBody>
                    <a:bodyPr/>
                    <a:lstStyle/>
                    <a:p>
                      <a:r>
                        <a:rPr lang="en-US" dirty="0"/>
                        <a:t>11/02/2026</a:t>
                      </a:r>
                    </a:p>
                  </a:txBody>
                  <a:tcPr/>
                </a:tc>
                <a:tc>
                  <a:txBody>
                    <a:bodyPr/>
                    <a:lstStyle/>
                    <a:p>
                      <a:r>
                        <a:rPr lang="en-US" dirty="0"/>
                        <a:t>25/02/0206</a:t>
                      </a:r>
                    </a:p>
                  </a:txBody>
                  <a:tcPr/>
                </a:tc>
                <a:extLst>
                  <a:ext uri="{0D108BD9-81ED-4DB2-BD59-A6C34878D82A}">
                    <a16:rowId xmlns:a16="http://schemas.microsoft.com/office/drawing/2014/main" val="65423934"/>
                  </a:ext>
                </a:extLst>
              </a:tr>
              <a:tr h="370840">
                <a:tc>
                  <a:txBody>
                    <a:bodyPr/>
                    <a:lstStyle/>
                    <a:p>
                      <a:r>
                        <a:rPr lang="en-US" dirty="0"/>
                        <a:t>System Design</a:t>
                      </a:r>
                    </a:p>
                  </a:txBody>
                  <a:tcPr/>
                </a:tc>
                <a:tc>
                  <a:txBody>
                    <a:bodyPr/>
                    <a:lstStyle/>
                    <a:p>
                      <a:r>
                        <a:rPr lang="en-US" dirty="0"/>
                        <a:t>2 weeks</a:t>
                      </a:r>
                    </a:p>
                  </a:txBody>
                  <a:tcPr/>
                </a:tc>
                <a:tc>
                  <a:txBody>
                    <a:bodyPr/>
                    <a:lstStyle/>
                    <a:p>
                      <a:r>
                        <a:rPr lang="en-US" dirty="0"/>
                        <a:t>01/03/2026</a:t>
                      </a:r>
                    </a:p>
                  </a:txBody>
                  <a:tcPr/>
                </a:tc>
                <a:tc>
                  <a:txBody>
                    <a:bodyPr/>
                    <a:lstStyle/>
                    <a:p>
                      <a:r>
                        <a:rPr lang="en-US" dirty="0"/>
                        <a:t>14/03/2026</a:t>
                      </a:r>
                    </a:p>
                  </a:txBody>
                  <a:tcPr/>
                </a:tc>
                <a:extLst>
                  <a:ext uri="{0D108BD9-81ED-4DB2-BD59-A6C34878D82A}">
                    <a16:rowId xmlns:a16="http://schemas.microsoft.com/office/drawing/2014/main" val="3076046925"/>
                  </a:ext>
                </a:extLst>
              </a:tr>
              <a:tr h="370840">
                <a:tc>
                  <a:txBody>
                    <a:bodyPr/>
                    <a:lstStyle/>
                    <a:p>
                      <a:r>
                        <a:rPr lang="en-US" dirty="0"/>
                        <a:t>Component Procurement</a:t>
                      </a:r>
                    </a:p>
                  </a:txBody>
                  <a:tcPr/>
                </a:tc>
                <a:tc>
                  <a:txBody>
                    <a:bodyPr/>
                    <a:lstStyle/>
                    <a:p>
                      <a:r>
                        <a:rPr lang="en-US" dirty="0"/>
                        <a:t>3 weeks</a:t>
                      </a:r>
                    </a:p>
                  </a:txBody>
                  <a:tcPr/>
                </a:tc>
                <a:tc>
                  <a:txBody>
                    <a:bodyPr/>
                    <a:lstStyle/>
                    <a:p>
                      <a:r>
                        <a:rPr lang="en-US" dirty="0"/>
                        <a:t>15/03/2026</a:t>
                      </a:r>
                    </a:p>
                  </a:txBody>
                  <a:tcPr/>
                </a:tc>
                <a:tc>
                  <a:txBody>
                    <a:bodyPr/>
                    <a:lstStyle/>
                    <a:p>
                      <a:r>
                        <a:rPr lang="en-US" dirty="0"/>
                        <a:t>04/03/2026</a:t>
                      </a:r>
                    </a:p>
                  </a:txBody>
                  <a:tcPr/>
                </a:tc>
                <a:extLst>
                  <a:ext uri="{0D108BD9-81ED-4DB2-BD59-A6C34878D82A}">
                    <a16:rowId xmlns:a16="http://schemas.microsoft.com/office/drawing/2014/main" val="702444078"/>
                  </a:ext>
                </a:extLst>
              </a:tr>
              <a:tr h="370840">
                <a:tc>
                  <a:txBody>
                    <a:bodyPr/>
                    <a:lstStyle/>
                    <a:p>
                      <a:r>
                        <a:rPr lang="en-US" dirty="0"/>
                        <a:t>Implementation</a:t>
                      </a:r>
                    </a:p>
                  </a:txBody>
                  <a:tcPr/>
                </a:tc>
                <a:tc>
                  <a:txBody>
                    <a:bodyPr/>
                    <a:lstStyle/>
                    <a:p>
                      <a:r>
                        <a:rPr lang="en-US" dirty="0"/>
                        <a:t>4 weeks</a:t>
                      </a:r>
                    </a:p>
                  </a:txBody>
                  <a:tcPr/>
                </a:tc>
                <a:tc>
                  <a:txBody>
                    <a:bodyPr/>
                    <a:lstStyle/>
                    <a:p>
                      <a:r>
                        <a:rPr lang="en-US" dirty="0"/>
                        <a:t>02/05/2026</a:t>
                      </a:r>
                    </a:p>
                  </a:txBody>
                  <a:tcPr/>
                </a:tc>
                <a:tc>
                  <a:txBody>
                    <a:bodyPr/>
                    <a:lstStyle/>
                    <a:p>
                      <a:r>
                        <a:rPr lang="en-US" dirty="0"/>
                        <a:t>30/05/2026</a:t>
                      </a:r>
                    </a:p>
                  </a:txBody>
                  <a:tcPr/>
                </a:tc>
                <a:extLst>
                  <a:ext uri="{0D108BD9-81ED-4DB2-BD59-A6C34878D82A}">
                    <a16:rowId xmlns:a16="http://schemas.microsoft.com/office/drawing/2014/main" val="2239845368"/>
                  </a:ext>
                </a:extLst>
              </a:tr>
              <a:tr h="370840">
                <a:tc>
                  <a:txBody>
                    <a:bodyPr/>
                    <a:lstStyle/>
                    <a:p>
                      <a:r>
                        <a:rPr lang="en-US" dirty="0"/>
                        <a:t>Testing</a:t>
                      </a:r>
                    </a:p>
                  </a:txBody>
                  <a:tcPr/>
                </a:tc>
                <a:tc>
                  <a:txBody>
                    <a:bodyPr/>
                    <a:lstStyle/>
                    <a:p>
                      <a:r>
                        <a:rPr lang="en-US" dirty="0"/>
                        <a:t>3 weeks</a:t>
                      </a:r>
                    </a:p>
                  </a:txBody>
                  <a:tcPr/>
                </a:tc>
                <a:tc>
                  <a:txBody>
                    <a:bodyPr/>
                    <a:lstStyle/>
                    <a:p>
                      <a:r>
                        <a:rPr lang="en-US" dirty="0"/>
                        <a:t>01/06/2026</a:t>
                      </a:r>
                    </a:p>
                  </a:txBody>
                  <a:tcPr/>
                </a:tc>
                <a:tc>
                  <a:txBody>
                    <a:bodyPr/>
                    <a:lstStyle/>
                    <a:p>
                      <a:r>
                        <a:rPr lang="en-US" dirty="0"/>
                        <a:t>21/06/2026</a:t>
                      </a:r>
                    </a:p>
                  </a:txBody>
                  <a:tcPr/>
                </a:tc>
                <a:extLst>
                  <a:ext uri="{0D108BD9-81ED-4DB2-BD59-A6C34878D82A}">
                    <a16:rowId xmlns:a16="http://schemas.microsoft.com/office/drawing/2014/main" val="288280163"/>
                  </a:ext>
                </a:extLst>
              </a:tr>
              <a:tr h="370840">
                <a:tc>
                  <a:txBody>
                    <a:bodyPr/>
                    <a:lstStyle/>
                    <a:p>
                      <a:r>
                        <a:rPr lang="en-US" dirty="0"/>
                        <a:t>Report Writing</a:t>
                      </a:r>
                    </a:p>
                  </a:txBody>
                  <a:tcPr/>
                </a:tc>
                <a:tc>
                  <a:txBody>
                    <a:bodyPr/>
                    <a:lstStyle/>
                    <a:p>
                      <a:r>
                        <a:rPr lang="en-US" dirty="0"/>
                        <a:t>3 weeks</a:t>
                      </a:r>
                    </a:p>
                  </a:txBody>
                  <a:tcPr/>
                </a:tc>
                <a:tc>
                  <a:txBody>
                    <a:bodyPr/>
                    <a:lstStyle/>
                    <a:p>
                      <a:r>
                        <a:rPr lang="en-US" dirty="0"/>
                        <a:t>22/07/2026</a:t>
                      </a:r>
                    </a:p>
                  </a:txBody>
                  <a:tcPr/>
                </a:tc>
                <a:tc>
                  <a:txBody>
                    <a:bodyPr/>
                    <a:lstStyle/>
                    <a:p>
                      <a:r>
                        <a:rPr lang="en-US" dirty="0"/>
                        <a:t>12/08/2026</a:t>
                      </a:r>
                    </a:p>
                  </a:txBody>
                  <a:tcPr/>
                </a:tc>
                <a:extLst>
                  <a:ext uri="{0D108BD9-81ED-4DB2-BD59-A6C34878D82A}">
                    <a16:rowId xmlns:a16="http://schemas.microsoft.com/office/drawing/2014/main" val="2800948006"/>
                  </a:ext>
                </a:extLst>
              </a:tr>
            </a:tbl>
          </a:graphicData>
        </a:graphic>
      </p:graphicFrame>
    </p:spTree>
    <p:extLst>
      <p:ext uri="{BB962C8B-B14F-4D97-AF65-F5344CB8AC3E}">
        <p14:creationId xmlns:p14="http://schemas.microsoft.com/office/powerpoint/2010/main" val="249001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E3B1-78AC-ED5A-4C26-C17F13CB3199}"/>
              </a:ext>
            </a:extLst>
          </p:cNvPr>
          <p:cNvSpPr>
            <a:spLocks noGrp="1"/>
          </p:cNvSpPr>
          <p:nvPr>
            <p:ph type="title"/>
          </p:nvPr>
        </p:nvSpPr>
        <p:spPr/>
        <p:txBody>
          <a:bodyPr/>
          <a:lstStyle/>
          <a:p>
            <a:r>
              <a:rPr lang="en-US" sz="4800" b="1" dirty="0"/>
              <a:t>References</a:t>
            </a:r>
            <a:endParaRPr lang="en-US" b="1" dirty="0"/>
          </a:p>
        </p:txBody>
      </p:sp>
      <p:sp>
        <p:nvSpPr>
          <p:cNvPr id="3" name="Content Placeholder 2">
            <a:extLst>
              <a:ext uri="{FF2B5EF4-FFF2-40B4-BE49-F238E27FC236}">
                <a16:creationId xmlns:a16="http://schemas.microsoft.com/office/drawing/2014/main" id="{3F43A270-7625-07F0-CB5A-BE7A9FF31679}"/>
              </a:ext>
            </a:extLst>
          </p:cNvPr>
          <p:cNvSpPr>
            <a:spLocks noGrp="1"/>
          </p:cNvSpPr>
          <p:nvPr>
            <p:ph idx="1"/>
          </p:nvPr>
        </p:nvSpPr>
        <p:spPr/>
        <p:txBody>
          <a:bodyPr/>
          <a:lstStyle/>
          <a:p>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[1] M. Abdullah-Al-Noman, A. N. Eva, T. B.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Yeahya</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and R. Khan, "Computer vision-based robotic arm for object color, shape, and size detection," *Journal of Robotics and Control*, vol. 3, no. 2, pp. 1-7, 2022.</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b="0" i="0" dirty="0">
                <a:effectLst/>
                <a:latin typeface="quote-cjk-patch"/>
              </a:rPr>
              <a:t>[2] L. Fernandes and S. B.R., "Identification and sorting of objects based on shape and </a:t>
            </a:r>
            <a:r>
              <a:rPr lang="en-US" sz="2000" b="0" i="0" dirty="0" err="1">
                <a:effectLst/>
                <a:latin typeface="quote-cjk-patch"/>
              </a:rPr>
              <a:t>colour</a:t>
            </a:r>
            <a:r>
              <a:rPr lang="en-US" sz="2000" b="0" i="0" dirty="0">
                <a:effectLst/>
                <a:latin typeface="quote-cjk-patch"/>
              </a:rPr>
              <a:t> using robotic arm," in </a:t>
            </a:r>
            <a:r>
              <a:rPr lang="en-US" sz="2000" b="0" i="1" dirty="0">
                <a:effectLst/>
                <a:latin typeface="quote-cjk-patch"/>
              </a:rPr>
              <a:t>Proc. 4th International Conference on Inventive Systems and Control (ICISC 2020)</a:t>
            </a:r>
            <a:r>
              <a:rPr lang="en-US" sz="2000" b="0" i="0" dirty="0">
                <a:effectLst/>
                <a:latin typeface="quote-cjk-patch"/>
              </a:rPr>
              <a:t>, IEEE, 2020, pp. 871-876. </a:t>
            </a:r>
            <a:r>
              <a:rPr lang="en-US" sz="2000" b="0" i="0" dirty="0" err="1">
                <a:effectLst/>
                <a:latin typeface="quote-cjk-patch"/>
              </a:rPr>
              <a:t>doi</a:t>
            </a:r>
            <a:r>
              <a:rPr lang="en-US" sz="2000" b="0" i="0" dirty="0">
                <a:effectLst/>
                <a:latin typeface="quote-cjk-patch"/>
              </a:rPr>
              <a:t>: 10.1109/ICISC47916.2020.9171190</a:t>
            </a:r>
            <a:r>
              <a:rPr lang="en-US" b="0" i="0" dirty="0">
                <a:solidFill>
                  <a:srgbClr val="F9FAFB"/>
                </a:solidFill>
                <a:effectLst/>
                <a:latin typeface="quote-cjk-patch"/>
              </a:rPr>
              <a:t>.</a:t>
            </a:r>
            <a:endParaRPr lang="en-US" dirty="0"/>
          </a:p>
        </p:txBody>
      </p:sp>
    </p:spTree>
    <p:extLst>
      <p:ext uri="{BB962C8B-B14F-4D97-AF65-F5344CB8AC3E}">
        <p14:creationId xmlns:p14="http://schemas.microsoft.com/office/powerpoint/2010/main" val="659610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4EBA-DFA1-94C7-1371-D117E8B9B7B2}"/>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3AB9D1EF-12D1-B575-3F2C-883DB6BA84A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77881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571</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quote-cjk-patch</vt:lpstr>
      <vt:lpstr>Times New Roman</vt:lpstr>
      <vt:lpstr>Office Theme</vt:lpstr>
      <vt:lpstr>Planning and Requirements</vt:lpstr>
      <vt:lpstr>Presentation Outline</vt:lpstr>
      <vt:lpstr>Project Overview</vt:lpstr>
      <vt:lpstr>Problem Statement</vt:lpstr>
      <vt:lpstr>Solution</vt:lpstr>
      <vt:lpstr>Specific Objectives</vt:lpstr>
      <vt:lpstr>Importance of the Project</vt:lpstr>
      <vt:lpstr>Methodology-Hardware Components</vt:lpstr>
      <vt:lpstr>Methodology-Software Components</vt:lpstr>
      <vt:lpstr>System Block Diagram</vt:lpstr>
      <vt:lpstr>Expected Outcome</vt:lpstr>
      <vt:lpstr>PowerPoint Presentation</vt:lpstr>
      <vt:lpstr>Proposed Timeline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and Requirements</dc:title>
  <dc:creator>cyrille sarpei</dc:creator>
  <cp:lastModifiedBy>cyrille sarpei</cp:lastModifiedBy>
  <cp:revision>5</cp:revision>
  <dcterms:created xsi:type="dcterms:W3CDTF">2026-02-17T12:01:24Z</dcterms:created>
  <dcterms:modified xsi:type="dcterms:W3CDTF">2026-02-17T16:21:13Z</dcterms:modified>
</cp:coreProperties>
</file>